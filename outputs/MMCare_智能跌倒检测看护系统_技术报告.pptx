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9dff730fc4b54" /><Relationship Type="http://schemas.openxmlformats.org/officeDocument/2006/relationships/extended-properties" Target="/docProps/app.xml" Id="R3157d321c8ee481e" /><Relationship Type="http://schemas.openxmlformats.org/officeDocument/2006/relationships/officeDocument" Target="/ppt/presentation.xml" Id="R9e2fb94c3ed04c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7a0e0f8316437e"/>
  </p:sldMasterIdLst>
  <p:notesMasterIdLst>
    <p:notesMasterId xmlns:r="http://schemas.openxmlformats.org/officeDocument/2006/relationships" r:id="R33c1dc034c4849b1"/>
  </p:notesMasterIdLst>
  <p:sldIdLst>
    <p:sldId xmlns:r="http://schemas.openxmlformats.org/officeDocument/2006/relationships" id="256" r:id="Rd66a8df964644ef7"/>
    <p:sldId xmlns:r="http://schemas.openxmlformats.org/officeDocument/2006/relationships" id="257" r:id="R827a21d0ccef4306"/>
    <p:sldId xmlns:r="http://schemas.openxmlformats.org/officeDocument/2006/relationships" id="258" r:id="R3f717f9ec58b4854"/>
    <p:sldId xmlns:r="http://schemas.openxmlformats.org/officeDocument/2006/relationships" id="259" r:id="R39cf3832375a4793"/>
    <p:sldId xmlns:r="http://schemas.openxmlformats.org/officeDocument/2006/relationships" id="260" r:id="R65ebe6ce3abc40df"/>
    <p:sldId xmlns:r="http://schemas.openxmlformats.org/officeDocument/2006/relationships" id="261" r:id="R564a3839c846468d"/>
    <p:sldId xmlns:r="http://schemas.openxmlformats.org/officeDocument/2006/relationships" id="262" r:id="R4f98f11faa7e4598"/>
    <p:sldId xmlns:r="http://schemas.openxmlformats.org/officeDocument/2006/relationships" id="263" r:id="R745460d820ef4a3f"/>
    <p:sldId xmlns:r="http://schemas.openxmlformats.org/officeDocument/2006/relationships" id="264" r:id="Re51cce2cd28b4f53"/>
    <p:sldId xmlns:r="http://schemas.openxmlformats.org/officeDocument/2006/relationships" id="265" r:id="Reb68a9d3a95e4655"/>
    <p:sldId xmlns:r="http://schemas.openxmlformats.org/officeDocument/2006/relationships" id="266" r:id="R929054971b514874"/>
    <p:sldId xmlns:r="http://schemas.openxmlformats.org/officeDocument/2006/relationships" id="267" r:id="Rf507f7cce0b448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1fdc35f954cb7" /><Relationship Type="http://schemas.openxmlformats.org/officeDocument/2006/relationships/slideMaster" Target="/ppt/slideMasters/slideMaster1.xml" Id="Rf17a0e0f8316437e" /><Relationship Type="http://schemas.openxmlformats.org/officeDocument/2006/relationships/notesMaster" Target="/ppt/notesMasters/notesMaster1.xml" Id="R33c1dc034c4849b1" /><Relationship Type="http://schemas.openxmlformats.org/officeDocument/2006/relationships/presProps" Target="/ppt/presProps.xml" Id="R1bff5c4a857e4cc9" /><Relationship Type="http://schemas.openxmlformats.org/officeDocument/2006/relationships/tableStyles" Target="/ppt/tableStyles.xml" Id="R58ebf5ad163a46c9" /><Relationship Type="http://schemas.openxmlformats.org/officeDocument/2006/relationships/slide" Target="/ppt/slides/slide1.xml" Id="Rd66a8df964644ef7" /><Relationship Type="http://schemas.openxmlformats.org/officeDocument/2006/relationships/slide" Target="/ppt/slides/slide2.xml" Id="R827a21d0ccef4306" /><Relationship Type="http://schemas.openxmlformats.org/officeDocument/2006/relationships/slide" Target="/ppt/slides/slide3.xml" Id="R3f717f9ec58b4854" /><Relationship Type="http://schemas.openxmlformats.org/officeDocument/2006/relationships/slide" Target="/ppt/slides/slide4.xml" Id="R39cf3832375a4793" /><Relationship Type="http://schemas.openxmlformats.org/officeDocument/2006/relationships/slide" Target="/ppt/slides/slide5.xml" Id="R65ebe6ce3abc40df" /><Relationship Type="http://schemas.openxmlformats.org/officeDocument/2006/relationships/slide" Target="/ppt/slides/slide6.xml" Id="R564a3839c846468d" /><Relationship Type="http://schemas.openxmlformats.org/officeDocument/2006/relationships/slide" Target="/ppt/slides/slide7.xml" Id="R4f98f11faa7e4598" /><Relationship Type="http://schemas.openxmlformats.org/officeDocument/2006/relationships/slide" Target="/ppt/slides/slide8.xml" Id="R745460d820ef4a3f" /><Relationship Type="http://schemas.openxmlformats.org/officeDocument/2006/relationships/slide" Target="/ppt/slides/slide9.xml" Id="Re51cce2cd28b4f53" /><Relationship Type="http://schemas.openxmlformats.org/officeDocument/2006/relationships/slide" Target="/ppt/slides/slide10.xml" Id="Reb68a9d3a95e4655" /><Relationship Type="http://schemas.openxmlformats.org/officeDocument/2006/relationships/slide" Target="/ppt/slides/slide11.xml" Id="R929054971b514874" /><Relationship Type="http://schemas.openxmlformats.org/officeDocument/2006/relationships/slide" Target="/ppt/slides/slide12.xml" Id="Rf507f7cce0b4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8984bf61d2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ba5353db54713" /><Relationship Type="http://schemas.openxmlformats.org/officeDocument/2006/relationships/notesMaster" Target="/ppt/notesMasters/notesMaster1.xml" Id="Rfedfc5be2e4246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4bc778bd604893" /><Relationship Type="http://schemas.openxmlformats.org/officeDocument/2006/relationships/notesMaster" Target="/ppt/notesMasters/notesMaster1.xml" Id="R80d21b7eeaf942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02dde9a0546bd" /><Relationship Type="http://schemas.openxmlformats.org/officeDocument/2006/relationships/notesMaster" Target="/ppt/notesMasters/notesMaster1.xml" Id="Rdee846f58aea4e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476355c694b63" /><Relationship Type="http://schemas.openxmlformats.org/officeDocument/2006/relationships/notesMaster" Target="/ppt/notesMasters/notesMaster1.xml" Id="R25772f54878648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86de17fc5c4775" /><Relationship Type="http://schemas.openxmlformats.org/officeDocument/2006/relationships/notesMaster" Target="/ppt/notesMasters/notesMaster1.xml" Id="R18e9b85d09a84f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341484009d41ad" /><Relationship Type="http://schemas.openxmlformats.org/officeDocument/2006/relationships/notesMaster" Target="/ppt/notesMasters/notesMaster1.xml" Id="R2656036065d24b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b8bfebf1c74ac7" /><Relationship Type="http://schemas.openxmlformats.org/officeDocument/2006/relationships/notesMaster" Target="/ppt/notesMasters/notesMaster1.xml" Id="R9bf116b66d3548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e1ccbe18924590" /><Relationship Type="http://schemas.openxmlformats.org/officeDocument/2006/relationships/notesMaster" Target="/ppt/notesMasters/notesMaster1.xml" Id="R9fd22eb8c5d64a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3aa031d10b4d5c" /><Relationship Type="http://schemas.openxmlformats.org/officeDocument/2006/relationships/notesMaster" Target="/ppt/notesMasters/notesMaster1.xml" Id="R684a19565e6e44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82bc2391364826" /><Relationship Type="http://schemas.openxmlformats.org/officeDocument/2006/relationships/notesMaster" Target="/ppt/notesMasters/notesMaster1.xml" Id="Raf04a05cc7d440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619577a8a0455c" /><Relationship Type="http://schemas.openxmlformats.org/officeDocument/2006/relationships/notesMaster" Target="/ppt/notesMasters/notesMaster1.xml" Id="R3cdb390398d74f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f6a3fe1829408d" /><Relationship Type="http://schemas.openxmlformats.org/officeDocument/2006/relationships/notesMaster" Target="/ppt/notesMasters/notesMaster1.xml" Id="R4939ab7f5ab5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5bc268d144b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c89a247c244da" /><Relationship Type="http://schemas.openxmlformats.org/officeDocument/2006/relationships/slideLayout" Target="/ppt/slideLayouts/slideLayout1.xml" Id="R350548af30d6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548af30d6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90983e1cb4f9b" /><Relationship Type="http://schemas.openxmlformats.org/officeDocument/2006/relationships/notesSlide" Target="/ppt/notesSlides/notesSlide1.xml" Id="R930a9989023d4c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78d900074f2d" /><Relationship Type="http://schemas.openxmlformats.org/officeDocument/2006/relationships/notesSlide" Target="/ppt/notesSlides/notesSlide2.xml" Id="Re7d5e20ebe304e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ee956af424922" /><Relationship Type="http://schemas.openxmlformats.org/officeDocument/2006/relationships/notesSlide" Target="/ppt/notesSlides/notesSlide3.xml" Id="Rac0107bea2d242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67c415a54693" /><Relationship Type="http://schemas.openxmlformats.org/officeDocument/2006/relationships/notesSlide" Target="/ppt/notesSlides/notesSlide4.xml" Id="R18358d8f661e4e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559616fbd4c9f" /><Relationship Type="http://schemas.openxmlformats.org/officeDocument/2006/relationships/notesSlide" Target="/ppt/notesSlides/notesSlide5.xml" Id="R91a7a26061e943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c01339d6b4725" /><Relationship Type="http://schemas.openxmlformats.org/officeDocument/2006/relationships/notesSlide" Target="/ppt/notesSlides/notesSlide6.xml" Id="R026cf0ebf27c40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f3183d9ea4b81" /><Relationship Type="http://schemas.openxmlformats.org/officeDocument/2006/relationships/notesSlide" Target="/ppt/notesSlides/notesSlide7.xml" Id="Rb77bcfb28c304e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d32bf0ca649f0" /><Relationship Type="http://schemas.openxmlformats.org/officeDocument/2006/relationships/notesSlide" Target="/ppt/notesSlides/notesSlide8.xml" Id="R640081f8ae0244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fae206d1a479e" /><Relationship Type="http://schemas.openxmlformats.org/officeDocument/2006/relationships/notesSlide" Target="/ppt/notesSlides/notesSlide9.xml" Id="Rb456e19e1d3c40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ee647beeb4038" /><Relationship Type="http://schemas.openxmlformats.org/officeDocument/2006/relationships/notesSlide" Target="/ppt/notesSlides/notesSlide10.xml" Id="Rbceaee589c8949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cc1f613e44dae" /><Relationship Type="http://schemas.openxmlformats.org/officeDocument/2006/relationships/notesSlide" Target="/ppt/notesSlides/notesSlide11.xml" Id="R54d1888f01f144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54a6062784b87" /><Relationship Type="http://schemas.openxmlformats.org/officeDocument/2006/relationships/notesSlide" Target="/ppt/notesSlides/notesSlide12.xml" Id="Rcc15c976746d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B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A7429-6139-4142-A907-07069A66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E0DC6-1151-40D1-9D06-41E41F6E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MMCare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61FFB-1251-4980-80A6-F1ECD64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E2E8F0"/>
                </a:solidFill>
              </a:defRPr>
            </a:pPr>
            <a:r>
              <a:rPr sz="3150">
                <a:solidFill>
                  <a:srgbClr val="E2E8F0"/>
                </a:solidFill>
              </a:rPr>
              <a:t>智能跌倒检测看护系统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9FEB5-4965-4CD6-8B84-6917EE0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基于 Renesas RA6M5 (R7FA6M5BF)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D53F2-31C5-4BA2-8993-5DB4BB7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项目技术报告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40F34-A87C-4D67-B9F8-82419E6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2026 年 6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F38DC-CA60-4737-AA4A-860E689C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1B913-C0E9-4771-A893-3726EB6E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3B5E"/>
                </a:solidFill>
              </a:defRPr>
            </a:pPr>
            <a:r>
              <a:rPr sz="1800" b="1">
                <a:solidFill>
                  <a:srgbClr val="0F3B5E"/>
                </a:solidFill>
              </a:rPr>
              <a:t>核心能力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EA03C-968F-4D0C-A96C-D724C699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LD6002C毫米波雷达跌倒检测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1F790-7F3F-48CA-8E4D-A5623AE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0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OLED实时状态显示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E961B-BC9D-4E7F-ADA1-5B0E711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479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MY1680语音播报报警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816B7-536D-4090-A026-7517A13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ML307R 4G远程云上报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C594A-277B-4A08-982A-52AD9A12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432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NTC温度实时监测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20CA3-6205-4FFB-9520-1A9B9A1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声光一体化报警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ACF65-860B-412A-93B6-B403787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385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200MHz/1MB Flash/512KB 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9995E-0ACC-4FCD-B6CC-E0E0BDE2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86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Keil MDK/FSP驱动框架</a:t>
            </a:r>
          </a:p>
        </p:txBody>
      </p:sp>
    </p:spTree>
    <p:extLst>
      <p:ext uri="{BB962C8B-B14F-4D97-AF65-F5344CB8AC3E}">
        <p14:creationId xmlns:p14="http://schemas.microsoft.com/office/powerpoint/2010/main" val="1914258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29EEB-58D3-45E8-BDF6-7E5875F9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B28C4-D1B7-42DD-AA09-B11C0FD4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项目概述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A5701-6F7D-40B6-8E19-FFC89EE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05B9A-CE22-428E-8275-99E1B0FA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143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C4B2E-A716-4214-AD5B-4BB05AB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399DC-6839-4D90-8DDB-24CABC5A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老龄化加速独居老人跌伤突出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86391-A21F-4B89-8866-501E43CE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黄金救援时间短人工效率低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AB5F9-534B-4A79-96AE-7F15466D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毫米波雷达非接触检测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9B6BB-91D1-4A92-8BB8-CC91CAF8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4G远程实时告警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C1156-5EAB-4F87-A383-1B75A995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52500"/>
            <a:ext cx="5143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BCE6B-3EE9-4CAB-B3CD-2A30916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049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E9D76-BAAE-4A1A-843A-39CBA70F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高可靠跌检+声光报警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33E8A-1DEF-4F91-8249-8709DB60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4G云平台上报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594C6-4187-48FE-977A-BFD9BF1D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环境温度实时监测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8EC36-D209-4FBE-AE75-DDD516F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模块化易扩展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156BF-D597-47A1-9E5F-2358F3E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82110-CF53-4E48-8F79-65B9E39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7A0F1-8EE6-415F-8C64-DEB01F31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养老院卫生间监测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95BFD-AC8A-4ACE-8F47-54E2B5D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独居老人居家看护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93ED7-9684-4642-AE95-D6846E18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康复中心监护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25FC2-6D60-4850-850D-1EB66734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  医疗机构辅助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C5B77-CBC7-4687-A3A1-31F8E0F8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5B23D-2EAB-4880-9AAA-82FF6DE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构成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57FA8-82F5-49E2-BDFC-F752951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R7FA6M5BF+LD6002C+OLED+MY1680+ML307R+NTC+LED+蜂鸣器。10ms Tick非阻塞调度。</a:t>
            </a:r>
          </a:p>
        </p:txBody>
      </p:sp>
    </p:spTree>
    <p:extLst>
      <p:ext uri="{BB962C8B-B14F-4D97-AF65-F5344CB8AC3E}">
        <p14:creationId xmlns:p14="http://schemas.microsoft.com/office/powerpoint/2010/main" val="1066226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225DA-3E81-4FE8-8C8F-FD876720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A73DB-2FAD-4960-9724-0AD1DDA0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硬件平台 MCU选型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150B8-1EF9-4DAC-8343-9A3CED91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3ECDB-FC53-4EFA-B8FA-2FCBA459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1B7EF-974F-44FF-A023-2C5C238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3B5E"/>
                </a:solidFill>
              </a:defRPr>
            </a:pPr>
            <a:r>
              <a:rPr sz="1500" b="1">
                <a:solidFill>
                  <a:srgbClr val="0F3B5E"/>
                </a:solidFill>
              </a:rPr>
              <a:t>R7FA6M5BF核心参数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2A685-ECC3-4363-B0B6-38086938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内核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FB7BB-BA21-4446-AC80-AFD1F713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097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ARM Cortex-M33 TrustZone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7CFC5-CE63-4E0D-82E6-6E582656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主频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0A403-5972-49D6-8694-C2CB433C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954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200MHz PLL:24MHz x25/3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218C4-45D9-4978-9863-0AD00D57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Flash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B6E02-B9B3-4CBA-9C86-EF8DD06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812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1MB (1048576B)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DCF26-F36B-4F3C-8288-F2462BC2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SRAM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D3930-C3AF-4947-86AD-867C160C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512KB (524288B)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CECD3-47A7-49E7-9668-FEFE0BA2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Data Flash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1841F-07A5-4725-ACFD-473B231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8KB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161A1-A2A8-4830-AF06-C0EB4133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封装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92170-6309-43BE-A562-C107649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384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BGA-176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71EB5-3878-426C-B481-72F87AF7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电压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E68B8-85DE-4D64-A14A-B24C8321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3.3V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7CCFD-1003-4492-869F-570B4B0D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调试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D4839-5D75-494B-8C6F-1D116E3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99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SWD P300/P108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F18E2-007E-40A8-BE78-8451F96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CA4C2-1E67-432E-A076-C67F68E5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Keil MDK v5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CD41E-B4E3-4160-9149-237483F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FSP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5C24D-BCC2-4FF3-874C-69237B8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Renesas FSP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52E6F-3357-490D-A8B7-B38C945A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293B"/>
                </a:solidFill>
              </a:defRPr>
            </a:pPr>
            <a:r>
              <a:rPr sz="975" b="1">
                <a:solidFill>
                  <a:srgbClr val="1E293B"/>
                </a:solidFill>
              </a:rPr>
              <a:t>编译器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F24FC-22EA-41ED-AB25-552C3B10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ARMCC6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5C3D2-4A85-49D0-9936-847CF5A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CF945-CF44-4C3B-A81A-D9E771BF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安全启动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7D139-A717-452F-9066-EF8DEA3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09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TrustZone隔离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DD0D4-AB64-4752-ABB1-665C40A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异常Secure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979FB-1F5D-493F-AA61-138E5236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IWDT禁用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87D097-3240-42C7-AAFB-9E153023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LVD0 2.80V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687A15-6E8B-4AA4-9632-3B274A2F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HOCO禁用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B21633-C913-4AE2-8E73-BD4966BE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Stack 0x400 Heap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04B7FA-486D-404E-9715-0725B1A0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514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39225-D030-4968-85FD-9ECD1476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外设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9B5F53-45E3-4153-9337-BA5E6F1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SCI UART多路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179F72-E2AB-46DC-96C6-117FF48E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IIC主机(OLED)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FB9BEF-23FD-4214-92EE-E8C8EE5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ADC 12位(NTC)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A43642-CA2E-41BB-9BD6-45C3E4A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GPT定时器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1A8B76-9B21-405A-AAB4-526B072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DAC 2路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0AF51-863B-4FB0-BE1B-FE10227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丰富GPIO</a:t>
            </a:r>
          </a:p>
        </p:txBody>
      </p:sp>
    </p:spTree>
    <p:extLst>
      <p:ext uri="{BB962C8B-B14F-4D97-AF65-F5344CB8AC3E}">
        <p14:creationId xmlns:p14="http://schemas.microsoft.com/office/powerpoint/2010/main" val="155834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C1980-2121-45E0-B303-90389588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7031-021E-44DD-B7B8-ACF663E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外设连接与引脚分配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B073-D6BF-4824-AF2B-A85150D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2E6F9-6D90-4D71-9896-0DF46D0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D7436-B886-43F1-B526-903C9FED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外设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8938D-75DF-47FF-BF65-257834A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429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9E038-9BD2-4710-861D-B66CCB73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429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462ED-6F40-4EE3-81C2-5463E219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942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引脚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333B1-6FA2-45DB-AD37-FBDC993B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42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B8831-98A4-4302-8CCA-86ED987C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42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EE356-96A3-4009-A6DB-77494C8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73CA7-5D78-4588-905D-5ECD417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LD6002C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FAE1F-8C9F-4F04-B024-BA4B706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85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UART4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A210-66FD-4FEB-A003-DB21937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85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34974-C20F-42FA-994F-651CD3EE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P315/P900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9B70A-A492-4EB3-BBD2-95DD7BEE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115200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3D54-C0A0-40AF-8903-82E72126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858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跌倒检测TinyFrame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2FFFD-27CF-470D-BB6F-29EE881B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761B7-24A8-4D63-9536-4456D5F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MY1680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7B79B-ECA0-4996-A0F1-139A5EDF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5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UART2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FC2EC-91BF-48FE-8634-D71436B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B0650-4076-4CE1-9A00-79C242E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P301/P302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0A2DB-D8F7-4AFD-9037-CA67F56E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9600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382CB-A053-4D63-9327-2950D3B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52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语音SD卡BUSY P413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DFFA4-CAB7-44F0-B1D7-B9D32D8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E8E0F-8B3F-455D-9881-B95AA9AF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ML307R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6A1E4-8127-472B-8B55-ACADEBFC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19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UART9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962BE-D2E1-45E8-B383-04D01CD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192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BF0FA-E73B-4931-8E8A-61D116D1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192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P109/P110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4F222-4602-4423-BFB3-29E6D26D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115200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E950C9-E566-4DE7-BF48-94649EA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19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HTTP云上报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BB4A3-6585-4E83-A50C-766EFA8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6EC76E-9B2D-40FB-AAAE-861E21B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OLED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8FA6F-7C76-45FD-9D6E-A2FA363A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859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I2C1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A5C07-0E14-4185-87C4-23082441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59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EF3D16-F383-47B5-B3D8-5EE07FAD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P511/P512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45A84B-A771-4628-B12E-2EDE4BC6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8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400kHz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F5433-D889-4564-B8DE-DAD4C309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128x64 0x3C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451E13-B9DA-432E-BD3E-EC71322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5116DA-6799-4167-9A6F-B1013C57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NTC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45169D-6B4C-4A59-8899-17DAC8C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ADC0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68E66D-92CD-4C0D-8B37-08EBB4F0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Ch3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0D5197-2513-4B4E-BEE9-935346D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52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P003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9812A3-CC5B-423E-907F-1109460C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12bit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CC612-DFD0-47C1-9832-ABAFD636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52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B=3950 10k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E4A72A-E664-4BE1-86D1-726ADA32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2C034C-998B-40A0-B80A-E8E7BBA5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蜂鸣器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465DDE-8510-4ACC-9DC2-3618D20B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1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GPIO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0917E6-932F-462D-A5DD-13FFE197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CE3B0F-3E9F-4C0D-88A2-C1BF83F1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P415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79801A-FD7C-47FA-90A5-63DF6A02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高有效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505BAD-5B3F-4E46-A469-055C204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报警驱动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E320B4-E3C1-4FD3-89EE-3BC5F6E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DB7F60-C08F-49C6-81E0-5A07506C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LED405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3B508B-143E-45D4-A2DF-2D07D130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860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GPIO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537FE6-F770-4E96-9D5A-6FABBF1F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4E7C61-BE5E-484F-82CB-83726EC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86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P405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F028E3-4317-4E48-B1C9-7117CBFE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860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高有效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E146F3-1540-4066-A08D-58C0503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86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跌倒闪烁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D113B6-0A39-404B-B6C4-10C8FC40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CC4E78-0D58-49AD-8768-3B5AA27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LED202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3DE1E3-3517-41C6-AB6F-392B0AD0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52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GPIO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4F7904-8D98-4767-96CF-3CDB31D8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2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F2C308-8A88-4E4F-84C7-4B857466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52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P202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005988-6DDB-47A3-8BEB-208E1EE4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52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高有效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5FC222-E58D-446C-BF97-2A8267F4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常亮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BBD05E-A2BB-4BD3-9FB8-31A5D206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0A5190-ADFE-4467-ACC9-0848A6F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LED604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0327E2-E879-4173-9D07-CC369C60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19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GPIO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5A911E-17DA-491E-89AC-363F3549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194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7C2883-BD69-488C-93B0-F0659275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P604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9F82EB-6B32-4499-B704-C49DDB55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19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高有效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AFCD54-1247-40F5-B9FA-C356188F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194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有人亮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F316DB-4A6A-48C6-B8B1-B17D72FD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AEDF3C-41E7-4DCD-8CB3-A714DB81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MOS606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2D8D95-3687-46CA-8F2C-4F32283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86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GPIO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19990A-9958-45DB-900A-4151A928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9AE561-10D1-42B5-B87F-B3B28D8F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86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P606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829541-5D88-4661-B7F9-ED8E49A9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86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高导通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038741-928E-4795-A877-2AC0049D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86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E293B"/>
                </a:solidFill>
              </a:defRPr>
            </a:pPr>
            <a:r>
              <a:rPr sz="900">
                <a:solidFill>
                  <a:srgbClr val="1E293B"/>
                </a:solidFill>
              </a:rPr>
              <a:t>10s/2s周期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D4A392-832F-4956-807A-8AFED58B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FSP驱动 Keil MDK编译</a:t>
            </a:r>
          </a:p>
        </p:txBody>
      </p:sp>
    </p:spTree>
    <p:extLst>
      <p:ext uri="{BB962C8B-B14F-4D97-AF65-F5344CB8AC3E}">
        <p14:creationId xmlns:p14="http://schemas.microsoft.com/office/powerpoint/2010/main" val="994756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A03CA-E1A1-4899-ABD4-CFD00CDD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3A4E5-548A-435B-BDE6-68C5F27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系统时钟架构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34013-BD5F-4201-9D48-6769EFB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B3D7E-DD80-4F38-8E65-065D9C53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49CD2-4397-483B-897D-A98B6B22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时钟源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FCC19-5D33-4766-8B6B-C6DAA110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DF7D5-1325-4EA8-B3C4-91E3AECE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XTAL=24MHz HOCO=20MHz Sub=32.768kHz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E268A-EE34-498C-B6A8-BCBBB397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52500"/>
            <a:ext cx="4953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FA49A-B2AC-470E-8D5C-8F03C655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0668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PLL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529FA-4500-483E-B528-BFA3CB4D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335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B4443-0A94-43F3-8AA5-5A32724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Src=XTAL /3 x25=200MHz ICLK=200MHz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C450B-A073-4BBE-99B2-2A008E6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5F78A-1FD9-4F75-9A34-16BB201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总线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2AD66-9828-4C90-9798-EEE83015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29497-A1E3-4059-A348-493FBE50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PCLKA=100 PCLKB=50 PCLKC=50 PCLKD=100 BCLK=100 FCLK=50 MHz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437AD-B605-4EED-A869-12C299E3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1AA0E-F977-43D5-9CFE-A3CFFE6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外设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3A983-4911-42EE-9E38-AD9B91CB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C16EE-55EE-4386-8462-5D7214AB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GPT PCLKD(100M) UART内部钟 ADC PCLKD I2C PCLKB</a:t>
            </a:r>
          </a:p>
        </p:txBody>
      </p:sp>
    </p:spTree>
    <p:extLst>
      <p:ext uri="{BB962C8B-B14F-4D97-AF65-F5344CB8AC3E}">
        <p14:creationId xmlns:p14="http://schemas.microsoft.com/office/powerpoint/2010/main" val="164029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0DAFE-0782-46CC-9656-7EB4BF6E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A10CC-82CB-4606-9B88-0219624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LD6002C毫米波雷达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CFCB2-7F3A-469E-9D6E-E8F77848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47156-9402-4CDD-A6CD-D6BA2E92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99437-B4AF-4B35-A18F-3A96276A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TinyFrame协议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849C7-575E-4E57-91A4-D983E5AB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SOF+ID(2)+LEN(2)+TYPE(2)+HCKSUM+D(N)+DCKSUM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D65B3-10E7-43A0-9819-91A60F1F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起始符0x01 115200 8N1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8042C-EB36-4864-940D-D38E4DF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校验:异或取反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29CD0-0358-498D-821D-7ED57DE7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安装高2.2m 缓冲512B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E1A23-E019-406C-A462-2263D1C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815CE-1F5B-4370-8711-3F9812C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消息类型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1801C-9249-4A72-9AB3-85AC24D8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09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11D48"/>
                </a:solidFill>
              </a:defRPr>
            </a:pPr>
            <a:r>
              <a:rPr sz="900" b="1">
                <a:solidFill>
                  <a:srgbClr val="E11D48"/>
                </a:solidFill>
              </a:rPr>
              <a:t>0x0E02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48813-E787-4F3C-9D0E-D1A65DE8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09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293B"/>
                </a:solidFill>
              </a:defRPr>
            </a:pPr>
            <a:r>
              <a:rPr sz="900" b="1">
                <a:solidFill>
                  <a:srgbClr val="1E293B"/>
                </a:solidFill>
              </a:rPr>
              <a:t>跌倒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1CBEE-2816-4F51-9539-6BBD9D1D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09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0正常1跌倒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65C0B-C660-4F62-A039-0B181FF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11D48"/>
                </a:solidFill>
              </a:defRPr>
            </a:pPr>
            <a:r>
              <a:rPr sz="900" b="1">
                <a:solidFill>
                  <a:srgbClr val="E11D48"/>
                </a:solidFill>
              </a:rPr>
              <a:t>0x0E0E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DE70E-4BDB-40C9-BEC5-E7C072A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764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293B"/>
                </a:solidFill>
              </a:defRPr>
            </a:pPr>
            <a:r>
              <a:rPr sz="900" b="1">
                <a:solidFill>
                  <a:srgbClr val="1E293B"/>
                </a:solidFill>
              </a:rPr>
              <a:t>高度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98B85-44DB-4B4D-885E-01C290F9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76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4B float距离m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8537-0B2A-4FAB-821E-F6CC3F3D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11D48"/>
                </a:solidFill>
              </a:defRPr>
            </a:pPr>
            <a:r>
              <a:rPr sz="900" b="1">
                <a:solidFill>
                  <a:srgbClr val="E11D48"/>
                </a:solidFill>
              </a:rPr>
              <a:t>0x0F09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ACFE8-CC87-4ECE-BB4B-4C7F39C3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431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293B"/>
                </a:solidFill>
              </a:defRPr>
            </a:pPr>
            <a:r>
              <a:rPr sz="900" b="1">
                <a:solidFill>
                  <a:srgbClr val="1E293B"/>
                </a:solidFill>
              </a:rPr>
              <a:t>有人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51439-8DD6-4D10-956A-635AA0F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0无人1有人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A02A5-3062-49E5-A44D-1EBAF04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11D48"/>
                </a:solidFill>
              </a:defRPr>
            </a:pPr>
            <a:r>
              <a:rPr sz="900" b="1">
                <a:solidFill>
                  <a:srgbClr val="E11D48"/>
                </a:solidFill>
              </a:rPr>
              <a:t>0xFFFF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6983B-FE37-4E4C-9690-87ED06DF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293B"/>
                </a:solidFill>
              </a:defRPr>
            </a:pPr>
            <a:r>
              <a:rPr sz="900" b="1">
                <a:solidFill>
                  <a:srgbClr val="1E293B"/>
                </a:solidFill>
              </a:rPr>
              <a:t>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F5E12-05FD-4386-8E1B-B229BE1C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固件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C37B4-4A16-4CB4-89F9-E0CF2F4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44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E4F72-52B0-4489-A82D-E6D4F19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数据流跌倒判定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025A5-E66D-43C2-BBC0-1D2384F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Init-&gt;UART4中断-&gt;状态机解析-&gt;radar_data_t-&gt;主循环。is_fall=1持续3帧(30ms)确认报警。2000ms无帧标记链路异常。离地高=安装高-雷达距。</a:t>
            </a:r>
          </a:p>
        </p:txBody>
      </p:sp>
    </p:spTree>
    <p:extLst>
      <p:ext uri="{BB962C8B-B14F-4D97-AF65-F5344CB8AC3E}">
        <p14:creationId xmlns:p14="http://schemas.microsoft.com/office/powerpoint/2010/main" val="1907060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76847-1C6A-4FD4-9F2D-987D940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85F-854B-477B-9049-A37B9F42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语音播报和4G云通信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5F396-F929-4962-80C5-6CFE3E81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76381-FD11-4FA0-8FFC-6CDED115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29A3F-C19E-454D-8E72-53AC48DB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3B5E"/>
                </a:solidFill>
              </a:defRPr>
            </a:pPr>
            <a:r>
              <a:rPr sz="1500" b="1">
                <a:solidFill>
                  <a:srgbClr val="0F3B5E"/>
                </a:solidFill>
              </a:rPr>
              <a:t>MY1680语音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C8C45-EF8E-48FE-A917-D2EEC3C1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UART SCI2 9600 8N1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3EFB-815E-40C6-A3D3-C6C72E6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BUSY引脚 P413 延时350ms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64668-C137-4AC1-A94D-E87988D8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SD卡存储 目录选曲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8289E-F7B1-4792-930A-8FFE031E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跌倒循环55/001和55/002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3D1A8-0951-4A3B-A2AF-47F6B799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查询BusyStatus状态机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CE682-4BC5-4785-A745-4F174230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A6B8A"/>
                </a:solidFill>
              </a:defRPr>
            </a:pPr>
            <a:r>
              <a:rPr sz="900">
                <a:solidFill>
                  <a:srgbClr val="1A6B8A"/>
                </a:solidFill>
              </a:rPr>
              <a:t>状态机:IDLE-&gt;REQ1-&gt;WAIT1-&gt;REQ2-&gt;WAIT2循环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2630F-B974-4CC8-A7B9-8389C2B2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6E370-46C4-40D1-9694-0962EBC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3B5E"/>
                </a:solidFill>
              </a:defRPr>
            </a:pPr>
            <a:r>
              <a:rPr sz="1500" b="1">
                <a:solidFill>
                  <a:srgbClr val="0F3B5E"/>
                </a:solidFill>
              </a:rPr>
              <a:t>ML307R 4G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87125-06BB-43D5-A46C-49A9217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UART SCI9 115200 LTE Cat.1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D95BD-570D-40F1-94EC-7CB49BE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Init-&gt;InitNetwork-&gt;HttpPost(url,json)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FB61B-8651-4E65-BC2A-43FDC7C4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JSON:{device,type,fall,human,height_m,temp}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4B747-A1E2-4A05-8DD0-8B8676C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失败重试30s超时 60s断线重连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5A248-9EE9-4E7C-93B8-4C0AD4BC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OLED显示4G:OK/FAIL/TIMEOUT</a:t>
            </a:r>
          </a:p>
        </p:txBody>
      </p:sp>
    </p:spTree>
    <p:extLst>
      <p:ext uri="{BB962C8B-B14F-4D97-AF65-F5344CB8AC3E}">
        <p14:creationId xmlns:p14="http://schemas.microsoft.com/office/powerpoint/2010/main" val="1353488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80996-8534-4531-8460-3733D0DD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E046E-180D-41B2-B397-2B9B954A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OLED显示和NTC测温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3C4D8-3F94-449E-B183-D0886AC1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B2470-35FC-4765-86E1-BD7F5950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911E5-54B3-4113-8543-31593DE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3B5E"/>
                </a:solidFill>
              </a:defRPr>
            </a:pPr>
            <a:r>
              <a:rPr sz="1500" b="1">
                <a:solidFill>
                  <a:srgbClr val="0F3B5E"/>
                </a:solidFill>
              </a:rPr>
              <a:t>OLED 128x64 I2C 0x3C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56E38-86EA-45DA-9E68-ABD0FC3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6B8A"/>
                </a:solidFill>
              </a:defRPr>
            </a:pPr>
            <a:r>
              <a:rPr sz="1050" b="1">
                <a:solidFill>
                  <a:srgbClr val="1A6B8A"/>
                </a:solidFill>
              </a:rPr>
              <a:t>布局4行x16列8x16: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DE586-3ED0-409A-8162-A256CCFA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行1:LD6002C Lk:OK T:25.3C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CB2BF-66CE-4734-9C1F-F4E7892D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行2:Raw:1 Alm:ON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38F3-0DF9-4A5E-94A8-D8F4AD0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行3:Hum:yes Gnd:1.5m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3F096-DC55-4C00-9900-AD881F8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行4:Frm:00123 R:1.5m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DB1D1-7036-44DA-8276-CE95ADA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行5:4G:INIT 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1DED9-0621-486C-94DD-BF787B87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594D2-1507-4CA3-9C50-CD9E709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3B5E"/>
                </a:solidFill>
              </a:defRPr>
            </a:pPr>
            <a:r>
              <a:rPr sz="1500" b="1">
                <a:solidFill>
                  <a:srgbClr val="0F3B5E"/>
                </a:solidFill>
              </a:rPr>
              <a:t>NTC测温ADC Ch3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62E15-22CA-4707-89D7-349EC98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10k@25C B=3950 12bit 3.3V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D9A4D-4E1E-4382-AD82-6496D4EC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ADC-&gt;Vout-&gt;Rntc-&gt;Steinhart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C901A-C7FF-492F-9FED-6CAF1AF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T=1/(ln(Rntc/10k)/3950+1/298.15)-273.15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DE3FD-BF76-49B0-AF19-FF5DBEAD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每500ms采集刷新OLED行1</a:t>
            </a:r>
          </a:p>
        </p:txBody>
      </p:sp>
    </p:spTree>
    <p:extLst>
      <p:ext uri="{BB962C8B-B14F-4D97-AF65-F5344CB8AC3E}">
        <p14:creationId xmlns:p14="http://schemas.microsoft.com/office/powerpoint/2010/main" val="357174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A2769-3E9C-49D4-A71C-7E6CBDB1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D2BBC-75DD-4B72-85FE-5F38529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声光报警系统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BFF79-6664-4948-87C7-D3A9B78D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F0289-6290-4F9B-81E8-C3B29C6C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05A4F-3A63-40C0-9245-A66A57A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3B5E"/>
                </a:solidFill>
              </a:defRPr>
            </a:pPr>
            <a:r>
              <a:rPr sz="1125" b="1">
                <a:solidFill>
                  <a:srgbClr val="0F3B5E"/>
                </a:solidFill>
              </a:rPr>
              <a:t>P405 LED_405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B5883-A282-4A99-8F09-83389DED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常态:常态灭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9E1C9-6EAC-4473-8305-54BB5F2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11D48"/>
                </a:solidFill>
              </a:defRPr>
            </a:pPr>
            <a:r>
              <a:rPr sz="900">
                <a:solidFill>
                  <a:srgbClr val="E11D48"/>
                </a:solidFill>
              </a:rPr>
              <a:t>跌倒:跌倒200ms闪烁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3F291-6CFB-4227-9AD1-65CF496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952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25F8D-38E6-486D-9E65-28268E6E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028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3B5E"/>
                </a:solidFill>
              </a:defRPr>
            </a:pPr>
            <a:r>
              <a:rPr sz="1125" b="1">
                <a:solidFill>
                  <a:srgbClr val="0F3B5E"/>
                </a:solidFill>
              </a:rPr>
              <a:t>P202 LED_202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3E0FC-257C-420B-961E-73B016AD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常态:常态亮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5402C-7E5B-4960-A255-5C257C21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04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11D48"/>
                </a:solidFill>
              </a:defRPr>
            </a:pPr>
            <a:r>
              <a:rPr sz="900">
                <a:solidFill>
                  <a:srgbClr val="E11D48"/>
                </a:solidFill>
              </a:rPr>
              <a:t>跌倒:跌倒200ms交替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C2F78-5A5B-4104-B523-DA3AFE87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BB39D-B0FD-45F6-91D4-27B3EC14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28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3B5E"/>
                </a:solidFill>
              </a:defRPr>
            </a:pPr>
            <a:r>
              <a:rPr sz="1125" b="1">
                <a:solidFill>
                  <a:srgbClr val="0F3B5E"/>
                </a:solidFill>
              </a:rPr>
              <a:t>P604 LED_604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DE9F9-D359-41F7-9810-E062B2A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常态:有人亮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737D3-245C-45A2-8E7A-77FC2576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04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11D48"/>
                </a:solidFill>
              </a:defRPr>
            </a:pPr>
            <a:r>
              <a:rPr sz="900">
                <a:solidFill>
                  <a:srgbClr val="E11D48"/>
                </a:solidFill>
              </a:rPr>
              <a:t>跌倒:跌倒灭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FD0CD-94F2-40C8-B049-3E09CC80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13C1C-B283-439D-8AAF-B57F295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蜂鸣器P415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39B9D-60DD-45CC-86FA-6D8EC90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开机滴一声100ms自检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C4B9D-C261-44DE-8463-05011D1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正常静音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17C55-A51E-47C5-B78B-3076E0F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跌倒300ms周期通断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B67C6-F6BB-443A-8B1C-29DE19D0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解除立即安静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6AEC8-6D50-4547-B77B-87B4889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A359B-E5C1-45C4-8A78-5A049CF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MOS开关P606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D8393-731F-4929-9A4A-59E05BE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MOSFET外部供电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357BC-8C49-4247-A6A1-A59FB9A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10s导通-2s断开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BE44F-374B-4802-9A20-5DBCE8FC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95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  默认导通10ms计时</a:t>
            </a:r>
          </a:p>
        </p:txBody>
      </p:sp>
    </p:spTree>
    <p:extLst>
      <p:ext uri="{BB962C8B-B14F-4D97-AF65-F5344CB8AC3E}">
        <p14:creationId xmlns:p14="http://schemas.microsoft.com/office/powerpoint/2010/main" val="2012627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CA1BB-B564-4F8C-8D7B-35E7707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A03EC-F070-46AC-9577-3E1AEB2A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软件架构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41E02-C962-4781-A17B-0D9B4D4E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84A8B-5DD4-48BE-B93E-E590B0D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C836F-DB6E-4661-AFC8-09AD670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初始化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4AFAD-6864-4FFB-AAC7-65BA72E1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LED/Buzzer/OLED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16D98-2449-474D-9189-7DF17FF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MY1680延时350ms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DA06C-9AB2-483D-ABAC-B5547151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Radar UART4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3361C-A9BA-4E5B-B881-B1F1981B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NTC ADC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42F14-7A6A-4C29-AAE0-48DC542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ML307R UART9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46974-69DD-4D51-9F77-E169264B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开机蜂鸣+语音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3208F-B2D0-4EF4-954B-446EA37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4G联网非阻塞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C64C5-6057-40EA-ABBC-C17AB741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144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9F270-87EF-4194-B257-395FB4B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47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主循环10ms Tick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79FFB-43DC-44DE-980A-7C9630CB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90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A雷达解析OLED刷新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7E756-85FB-487F-B0BE-3BD2272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02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B人员检测604LED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C58D1-9204-42D6-AC95-4C8FE3D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6B8A"/>
                </a:solidFill>
              </a:defRPr>
            </a:pPr>
            <a:r>
              <a:rPr sz="900" b="1">
                <a:solidFill>
                  <a:srgbClr val="1A6B8A"/>
                </a:solidFill>
              </a:rPr>
              <a:t>C跌倒声光报警联动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D07D4-CFC0-459E-B420-23E91CD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6B8A"/>
                </a:solidFill>
              </a:defRPr>
            </a:pPr>
            <a:r>
              <a:rPr sz="900" b="1">
                <a:solidFill>
                  <a:srgbClr val="1A6B8A"/>
                </a:solidFill>
              </a:rPr>
              <a:t>D温度500ms采集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6348E-EC0B-4E85-B4B9-0D7AD1D9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6B8A"/>
                </a:solidFill>
              </a:defRPr>
            </a:pPr>
            <a:r>
              <a:rPr sz="900" b="1">
                <a:solidFill>
                  <a:srgbClr val="1A6B8A"/>
                </a:solidFill>
              </a:rPr>
              <a:t>E 4G云上报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40597-C0DE-49B9-8414-70A4EA0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6B8A"/>
                </a:solidFill>
              </a:defRPr>
            </a:pPr>
            <a:r>
              <a:rPr sz="900" b="1">
                <a:solidFill>
                  <a:srgbClr val="1A6B8A"/>
                </a:solidFill>
              </a:rPr>
              <a:t>F MOS 10s/2s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CC19C-67F4-4DB4-904B-49C2288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914400"/>
            <a:ext cx="3238500" cy="4095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7CDC0-A756-4D32-8EBB-3FFC118F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47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模块分层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34CEC-E30A-4AAA-B72A-D92D4D7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90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3B5E"/>
                </a:solidFill>
              </a:defRPr>
            </a:pPr>
            <a:r>
              <a:rPr sz="900" b="1">
                <a:solidFill>
                  <a:srgbClr val="0F3B5E"/>
                </a:solidFill>
              </a:rPr>
              <a:t>应用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4A109-C61E-4BBE-88A5-0FD3891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906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hal_entry/fall_alarm/radar_display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05CF0-D8C3-4AA0-803F-805ED2F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479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3B5E"/>
                </a:solidFill>
              </a:defRPr>
            </a:pPr>
            <a:r>
              <a:rPr sz="900" b="1">
                <a:solidFill>
                  <a:srgbClr val="0F3B5E"/>
                </a:solidFill>
              </a:rPr>
              <a:t>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C9434-A646-4339-BE88-70E19C7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led/buzzer/oled/my1680/ml307r/ntc_temp/radar_uart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6B3C2-8CD3-4EA0-A0E4-33B87F10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3B5E"/>
                </a:solidFill>
              </a:defRPr>
            </a:pPr>
            <a:r>
              <a:rPr sz="900" b="1">
                <a:solidFill>
                  <a:srgbClr val="0F3B5E"/>
                </a:solidFill>
              </a:rPr>
              <a:t>驱动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7B9B3-634B-4AA8-A31C-0EC571FD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FSP HAL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F0889-0810-424F-A375-DCE0DD5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3B5E"/>
                </a:solidFill>
              </a:defRPr>
            </a:pPr>
            <a:r>
              <a:rPr sz="900" b="1">
                <a:solidFill>
                  <a:srgbClr val="0F3B5E"/>
                </a:solidFill>
              </a:rPr>
              <a:t>硬件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2933C-B149-43C0-AB95-E6BE91DC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MCU+外设</a:t>
            </a:r>
          </a:p>
        </p:txBody>
      </p:sp>
    </p:spTree>
    <p:extLst>
      <p:ext uri="{BB962C8B-B14F-4D97-AF65-F5344CB8AC3E}">
        <p14:creationId xmlns:p14="http://schemas.microsoft.com/office/powerpoint/2010/main" val="1838966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15120-D688-4AD9-831C-CF93B08D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74921-1A36-41EB-B8E8-4D35F074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3B5E"/>
                </a:solidFill>
              </a:defRPr>
            </a:pPr>
            <a:r>
              <a:rPr sz="2400" b="1">
                <a:solidFill>
                  <a:srgbClr val="0F3B5E"/>
                </a:solidFill>
              </a:rPr>
              <a:t>跌倒报警状态机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EA58E-4D08-4DEE-AA02-4916CB4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91873-5226-4ECC-897C-0ABEC5E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382EE-1F34-41A3-881D-E9ED4708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FallAlarm判定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E88F1-FFC2-4BA3-9334-843ED9D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is_fall=1持续3帧active=true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5288C-0455-4FFE-B4A6-93AAE1F2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解除falling_edge active=false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E4590-79A1-47E4-AA81-383C3AF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超时2s link_ok=false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59127-7B87-4903-AAC7-A81EEDAC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43B58-831A-4585-9607-434F038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4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语音云上报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0E226-EEEE-467F-8652-5FDF12A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语音:IDLE-&gt;REQ1-&gt;WAIT1-&gt;REQ2-&gt;WAIT2循环。云:上升沿触发POST,失败30s超时,60s检测。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80877-FE9D-46FF-98E7-179B16E0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143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078AB-132B-4D86-A020-FF2376F5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时序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5300C-FE49-4279-9CA4-3E5939D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t+0:雷达检测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77433-5286-4639-B2D5-599E9F0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t+30ms:3帧确认激活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2EE97-FC67-48EB-9E38-FF10889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t+30ms:LED蜂鸣语音云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5E76E-71AD-4FCC-85A0-53DF594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  <a:r>
              <a:rPr sz="900">
                <a:solidFill>
                  <a:srgbClr val="334155"/>
                </a:solidFill>
              </a:rPr>
              <a:t>  t+解除:全部停止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055E9-E330-4B82-B759-B096D9C1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5143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D6535-E458-4F72-95FF-6592E529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B5E"/>
                </a:solidFill>
              </a:defRPr>
            </a:pPr>
            <a:r>
              <a:rPr sz="1350" b="1">
                <a:solidFill>
                  <a:srgbClr val="0F3B5E"/>
                </a:solidFill>
              </a:rPr>
              <a:t>联动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BE676-771E-4E8F-A028-9C4B5D14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975">
                <a:solidFill>
                  <a:srgbClr val="334155"/>
                </a:solidFill>
              </a:defRPr>
            </a:pPr>
            <a:r>
              <a:rPr sz="975">
                <a:solidFill>
                  <a:srgbClr val="334155"/>
                </a:solidFill>
              </a:rPr>
              <a:t>跌倒-&gt;405/202 200ms交替+蜂鸣300ms+MY1680循环+ML307R上报。解除后202常亮其余停止。</a:t>
            </a:r>
          </a:p>
        </p:txBody>
      </p:sp>
    </p:spTree>
    <p:extLst>
      <p:ext uri="{BB962C8B-B14F-4D97-AF65-F5344CB8AC3E}">
        <p14:creationId xmlns:p14="http://schemas.microsoft.com/office/powerpoint/2010/main" val="787406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3B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157EB-0AB8-45E3-8C4C-67142BE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A04F6-B955-43C2-ACE0-8F979193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0FA01-6CBB-428A-AEDD-C93585E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5D3A"/>
                </a:solidFill>
              </a:defRPr>
            </a:pPr>
            <a:r>
              <a:rPr sz="1650" b="1">
                <a:solidFill>
                  <a:srgbClr val="E85D3A"/>
                </a:solidFill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10614-2B29-47A3-AD1A-CACBD2D7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LD6002C雷达跌倒检测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200F4-B6CD-471F-B014-EE84C50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OLED实时显示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B9B5C-B960-4F9B-8C5A-60F6356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MY1680语音播报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BCD5D-6CD0-44F1-B677-415BF77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ML307R 4G云上报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4A782-330A-401D-B663-4BAA9EED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NTC温度采集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4AAA6-ECFA-4EFF-91CE-189A323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三色LED蜂鸣器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F4EF0-6B41-41F9-AF5D-267D28E2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</a:defRPr>
            </a:pPr>
            <a:r>
              <a:rPr sz="1050">
                <a:solidFill>
                  <a:srgbClr val="E2E8F0"/>
                </a:solidFill>
              </a:rPr>
              <a:t>  MOS开关控制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3B5A6-BAB2-4F40-A535-51901F31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5D3A"/>
                </a:solidFill>
              </a:defRPr>
            </a:pPr>
            <a:r>
              <a:rPr sz="1650" b="1">
                <a:solidFill>
                  <a:srgbClr val="E85D3A"/>
                </a:solidFill>
              </a:rPr>
              <a:t>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B52C0-2661-4B4A-B9F0-84AA87A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云平台IoT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04129-D60F-494D-9A8F-6BFE769E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OTA远程升级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F6687-0416-44D0-AEC7-D6708853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Web监控面板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AB766-2140-400B-B299-4E21BA42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多传感器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33847-C0F8-43A6-ABAA-7D113885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RTOS FreeRTOS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8A32F-7C5C-4D4C-B018-8AABDD75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低功耗电池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FC863-97B9-4318-9EA4-46A53397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  App推送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73EE2-B766-4E07-96C8-091ACF8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MMCare 让看护更智能更及时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BD76A-3A61-4700-91D8-DEFA8FBD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Renesas RA6M5 / Keil MDK / FSP / C</a:t>
            </a:r>
          </a:p>
        </p:txBody>
      </p:sp>
    </p:spTree>
    <p:extLst>
      <p:ext uri="{BB962C8B-B14F-4D97-AF65-F5344CB8AC3E}">
        <p14:creationId xmlns:p14="http://schemas.microsoft.com/office/powerpoint/2010/main" val="1458421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2026-06-20T15:55:49.3470000Z</dcterms:created>
  <dcterms:modified xsi:type="dcterms:W3CDTF">2026-06-20T15:55:49.3480000Z</dcterms:modified>
</coreProperties>
</file>